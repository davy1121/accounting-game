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554480" cy="5029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Microsoft YaHei"/>
              </a:rPr>
              <a:t>资产减值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8FA8BE"/>
                </a:solidFill>
                <a:latin typeface="Microsoft YaHei"/>
              </a:rPr>
              <a:t>Impairment of Assets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7D4E0"/>
                </a:solidFill>
                <a:latin typeface="Microsoft YaHei"/>
              </a:rPr>
              <a:t>CAS 8 准则本体 · 准则间分工 · 商誉与总部资产 · 减值操纵的经济后果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480560"/>
            <a:ext cx="5669280" cy="32004"/>
          </a:xfrm>
          <a:prstGeom prst="rect">
            <a:avLst/>
          </a:prstGeom>
          <a:solidFill>
            <a:srgbClr val="355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8860B"/>
                </a:solidFill>
                <a:latin typeface="Microsoft YaHei"/>
              </a:rPr>
              <a:t>研究生 / MPAcc 提高班 专题课程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8BCCE"/>
                </a:solidFill>
                <a:latin typeface="Microsoft YaHei"/>
              </a:rPr>
              <a:t>本讲定位：不止“怎么算”，更要回答“准则为什么这样规定、企业会怎样利用它”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D93A8"/>
                </a:solidFill>
                <a:latin typeface="Microsoft YaHei"/>
              </a:rPr>
              <a:t>建议课时：3 学时（含 1 学时案例研讨）　|　配套：计算例题详解 · 复习提纲 · 随堂小测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课程导引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本讲学习目标与知识地图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能力目标：学完应当能够……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判断一项资产减值适用哪一条准则（准则间分工）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不再把“减值”等同于 CAS 8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独立完成单项资产、资产组、总部资产、商誉四层次的减值测试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含二次分摊、部分商誉法的完整计算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编写从计提、分摊到处置结转的完整分录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就“能否转回”作出准确判断并说明准则理由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批判性评估减值准则的操纵空间与实证后果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知识地图：六大模块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① 准则定位与制度框架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CAS 8 与 IAS 36 的演进、分工与目标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② 减值迹象与测试时点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一般资产 vs 强制年度测试资产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③ 可收回金额计量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孰高逻辑、现金流量与折现率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④ 资产组与总部资产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认定标准、分摊顺序、二次分摊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⑤ 商誉减值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分摊单元上限、部分商誉法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⑥ 确认、转回、披露与实证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课程导引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全讲目录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11064240" cy="5760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07008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207008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准则定位与制度框架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207008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CAS 8 的适用范围、与 IAS 36 的关系、资产减值的目标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833372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833372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33372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833372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减值迹象与测试时点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33372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七类迹象、强制年度测试的资产、测试时点选择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459736"/>
            <a:ext cx="11064240" cy="5760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459736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459736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459736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可收回金额的计量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59736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孰高原则、公允价值减处置费用、未来现金流量现值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86100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86100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86100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086100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资产组的认定与减值分摊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086100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最小独立现金流单元、分摊顺序、二次分摊下限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12464"/>
            <a:ext cx="11064240" cy="5760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12464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712464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712464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总部资产与商誉减值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712464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总部资产的分摊与最小组合、商誉分摊单元上限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338828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38828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338828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338828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确认、转回、披露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338828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分录体系、不得转回的经济逻辑、披露要求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965192"/>
            <a:ext cx="11064240" cy="5760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965192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965192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4965192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准则比较与实证证据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965192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CAS 8 vs IAS 36、商誉减值与利润操纵文献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591556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591556"/>
            <a:ext cx="50292" cy="57607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591556"/>
            <a:ext cx="6858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5591556"/>
            <a:ext cx="32004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Microsoft YaHei"/>
              </a:rPr>
              <a:t>课堂案例与计算实训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591556"/>
            <a:ext cx="67208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6B"/>
                </a:solidFill>
                <a:latin typeface="Microsoft YaHei"/>
              </a:rPr>
              <a:t>五个例题：从单项减值到商誉二次分摊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准则定位与制度框架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Scope and Institutional Framework of Asset Impairment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资产减值不是一个准则，而是一组准则的分工结果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CAS 8 的历史沿革与 2006 年改革的意义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资产减值会计的目标：从“如实反映”到“可验证性”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CAS 8 与 IAS 36 的对应关系与主要差异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资产减值：一个被误用的统称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71323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A43"/>
                </a:solidFill>
                <a:latin typeface="Microsoft YaHei"/>
              </a:rPr>
              <a:t>“资产减值”在会计上并非单一准则的专属概念。不同资产类别的减值，分别由不同准则规范；把一切减值都套用 CAS 8，是初学者最常见的错误。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084831"/>
          <a:ext cx="10789919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84371"/>
                <a:gridCol w="2157984"/>
                <a:gridCol w="3236976"/>
                <a:gridCol w="1510588"/>
              </a:tblGrid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资产类别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适用准则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减值计量基础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转回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固定资产、无形资产、商誉、长期股权投资、投资性房地产（成本模式）、生产性生物资产、油气资产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资产减值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可收回金额（孰高）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存货、消耗性生物资产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1 存货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可变现净值（成本与可变现净值孰低）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金融资产（分类为摊余成本、以公允价值计量且其变动计入其他综合收益）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22 金融工具确认与计量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预期信用损失（ECL）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合同资产、应收款项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22 / CAS 14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预期信用损失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递延所得税资产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18 所得税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未来期间应纳税所得额的可实现性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持有待售的非流动资产与处置组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42 持有待售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账面价值与公允价值减出售费用孰低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特定条件可转回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职工薪酬相关资产（设定受益计划）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9 职工薪酬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准则专门规定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13232" y="5532120"/>
            <a:ext cx="10789920" cy="658368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532120"/>
            <a:ext cx="50292" cy="65836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650992"/>
            <a:ext cx="1040587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2A43"/>
                </a:solidFill>
                <a:latin typeface="Microsoft YaHei"/>
              </a:rPr>
              <a:t>教学要点：让学生养成“先看资产类型、再定准则、最后选计量属性”的条件反射。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CAS 8 的适用范围边界（逐条排除法）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CAS 8 规范的对象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固定资产（CAS 4）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无形资产（CAS 6），含使用寿命有限与不确定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采用成本模式后续计量的投资性房地产（CAS 3）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长期股权投资（CAS 2，成本法与权益法）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商誉（CAS 20 企业合并产生）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生产性生物资产（CAS 5）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油气资产（CAS 27）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探明矿区权益及相关设施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明确不适用或者按其他准则处理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存货 —— 按 CAS 1 成本与可变现净值孰低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关键区别：存货的“减值”可以转回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采用公允价值模式计量的投资性房地产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本身以公允价值计量，公允价值变动直接进损益，不适用 CAS 8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金融资产 —— 按 CAS 22 预期信用损失模型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持有待售资产 —— 按 CAS 42 计量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划归持有待售后不再计提折旧、不再按 CAS 8 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递延所得税资产、职工薪酬相关资产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制度演进：2006 年 CAS 8 的意义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50" b="1" i="0">
                <a:solidFill>
                  <a:srgbClr val="102A43"/>
                </a:solidFill>
                <a:latin typeface="Microsoft YaHei"/>
              </a:rPr>
              <a:t>改革前：资产减值准备“八项计提”，且普遍允许转回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1998—2001 年间，坏账准备、存货跌价准备、短期投资跌价准备、长期投资减值准备、固定资产减值准备、无形资产减值准备、在建工程减值准备、委托贷款减值准备等先后出台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突出问题是“计提—转回”成为利润调节的通道：某年巨亏一次性“大洗澡”，次年转回实现“扭亏为盈”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50" b="1" i="0">
                <a:solidFill>
                  <a:srgbClr val="102A43"/>
                </a:solidFill>
                <a:latin typeface="Microsoft YaHei"/>
              </a:rPr>
              <a:t>2006 年 CAS 8 的两项核心变革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① 长期资产减值一经计提，不得转回（第十七条），并明确禁止通过转回调节利润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② 明确以“资产组”“总部资产”“商誉”为测试单元，解决单项资产现金流不可单独估计的问题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50" b="1" i="0">
                <a:solidFill>
                  <a:srgbClr val="102A43"/>
                </a:solidFill>
                <a:latin typeface="Microsoft YaHei"/>
              </a:rPr>
              <a:t>为什么只禁长期资产而不禁存货与金融资产？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长期资产减值多由持续性因素导致，其价值回升的证据难以客观验证；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存货、金融资产有活跃市场价格或可验证的信用信息，转回具有可验证性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400" b="0" i="0">
                <a:solidFill>
                  <a:srgbClr val="5A636B"/>
                </a:solidFill>
                <a:latin typeface="Microsoft YaHei"/>
              </a:rPr>
              <a:t>因此准则在“如实反映”与“可验证性 / 可审计性”之间作了不同取舍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623560"/>
            <a:ext cx="10789920" cy="594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623560"/>
            <a:ext cx="50292" cy="59436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讨论题：如果没有“不得转回”的限制，管理层的盈余管理空间会有多大？请结合后文实证文献思考。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资产减值会计的目标与内在张力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准则目标：如实反映资产的经济价值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资产账面价值不应超过其可收回金额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账面价值 = 历史成本 - 累计折旧/摊销 - 减值准备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当资产未来经济利益低于账面价值时，差额应确认为损失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核心判据：资产“能为企业带来多少未来经济利益”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计量属性：可收回金额 = max（公允价值减处置费用，未来现金流量现值）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内在张力：三大可操纵空间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空间一：减值迹象的“主观判断”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“资产经济绩效低于预期”无量化门槛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空间二：现金流预测与折现率假设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预测期、增长率、折现率均为管理层估计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空间三：资产组划分与商誉分摊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资产组划分不同，减值结果可能截然不同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结果：准则本身即内含管理层裁量，这正是实证研究的切入口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CAS 8 与 IAS 36 的框架对照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286"/>
                <a:gridCol w="4531766"/>
                <a:gridCol w="4423867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CAS 8（中国）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IAS 36（国际）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适用范围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长期资产（固定资产、无形资产、长期股权投资、商誉等）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基本对应，但存货、金融资产等亦按各自准则排除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减值测试时点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存在减值迹象时；商誉与寿命不确定无形资产每年必须测试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存在减值迹象时；商誉与寿命不确定无形资产、尚未可使用的无形资产每年必须测试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max（公允价值减处置费用，预计未来现金流量现值）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max（fair value less costs of disposal, value in use）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折现率口径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税前利率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税前利率（pre-tax rate）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资产组概念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 / 资产组组合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cash-generating unit（CGU）/ group of CGUs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商誉分摊上限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不大于报告分部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不大于经营分部（operating segment）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商誉减值转回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禁止转回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禁止转回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其他长期资产减值转回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禁止转回（第十七条）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允许转回，但上限为“假设未计提减值时的账面价值”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6199632"/>
            <a:ext cx="10789920" cy="45720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199632"/>
            <a:ext cx="50292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6318504"/>
            <a:ext cx="1040587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差异最大、最常考的一条：长期资产减值，CAS 8 一律不得转回；IAS 36 原则上允许转回（商誉除外）。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01 准则定位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从“八项计提”到 CAS 8：转回规则的制度逻辑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10789920" cy="56692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1998—2005　资产减值准备普遍可转回　→　“大洗澡 + 次年转回”盈余管理模式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57400"/>
            <a:ext cx="10789920" cy="566928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502A"/>
                </a:solidFill>
                <a:latin typeface="Microsoft YaHei"/>
              </a:rPr>
              <a:t>2006　CAS 8 发布　→　长期资产减值不得转回；引入资产组、总部资产、商誉测试单元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788920"/>
            <a:ext cx="10789920" cy="566928"/>
          </a:xfrm>
          <a:prstGeom prst="rect">
            <a:avLst/>
          </a:prstGeom>
          <a:solidFill>
            <a:srgbClr val="E8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6B4F"/>
                </a:solidFill>
                <a:latin typeface="Microsoft YaHei"/>
              </a:rPr>
              <a:t>2007 至今　禁止转回后，操纵方式转为“择时计提”与“商誉分摊裁量”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11880"/>
            <a:ext cx="107899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禁止转回的代价：可能高估后续期间的损失（价值回升无法确认），牺牲部分相关性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禁止转回的收益：压缩了“先大额计提、后转回”这一最直接的利润平滑通道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所以准则并未消除操纵，只是把操纵空间从“转回时点”转移到了“计提时点与分摊方式”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减值迹象与测试时点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Indicators of Impairment and Timing of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外部迹象与内部迹象：七类情形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一般资产：有迹象才测试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商誉、寿命不确定无形资产：无迹象也每年测试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测试时点：资产负债表日、统一时点、交易发生时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02 迹象与测试时点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测试逻辑：先看“有没有迹象”，再看“要不要测试”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88720"/>
            <a:ext cx="1078992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8872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第一步　判断是否存在减值迹象　→　第二步　估计可收回金额　→　第三步　比较并确认损失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84831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1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一般资产：出现迹象才测试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42031"/>
            <a:ext cx="5349240" cy="37307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88335"/>
            <a:ext cx="4946904" cy="3410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固定资产、无形资产（寿命有限）、长期股权投资等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没有减值迹象 → 不需要计算可收回金额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节省计量成本，符合成本效益原则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出现任一减值迹象 → 必须估计可收回金额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若可收回金额难以估计单项，则下沉到资产组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注意：迹象只是“触发器”，不是“结论”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出现迹象不等于一定减值，仍须比较账面价值与可收回金额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084831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84831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强制年度测试：不看迹象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542031"/>
            <a:ext cx="5349240" cy="37307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688335"/>
            <a:ext cx="4946904" cy="3410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商誉（企业合并形成）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使用寿命不确定的无形资产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尚未达到可使用状态的无形资产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研究开发阶段资本化的开发支出等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无论是否存在减值迹象，每年均须测试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可在年度中任意固定时点进行，但各年应保持一致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实务中多与年度财务报告编制时点结合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考试提示：这三类是必考差异点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02 迹象与测试时点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减值迹象：外部迹象（四项）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4892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6387"/>
                <a:gridCol w="4963363"/>
                <a:gridCol w="4100169"/>
              </a:tblGrid>
              <a:tr h="9784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具体迹象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研究生层次的解读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外部信息来源①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资产的市价在当期大幅度下跌，其跌幅明显高于因时间的推移或者正常使用而预计的下跌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市价是外部可验证信号，最接近公允价值；注意排除“正常折旧导致的下跌”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外部信息来源②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企业经营所处的经济、技术或者法律等环境，以及资产所处的市场在当期或者将在近期发生重大变化，从而对企业产生不利影响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如新能源补贴退坡、行业监管收紧、技术路线被替代；属于前瞻性判断，主观性较强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外部信息来源③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市场利率或者其他市场投资报酬率在当期已经提高，从而影响企业计算资产预计未来现金流量现值的折现率，导致资产可收回金额大幅度降低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注意传导链条：折现率上升 → 未来现金流量现值下降 → 可收回金额下降；即使资产本身经营未恶化也可能减值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外部信息来源④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企业净资产账面价值大于其市值（如存在活跃市场报价）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这是“整体层面”的减值线索；由于报表不确认自创商誉等，账面高于市值并不必然意味着必须减值，但须作为重要预警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6199632"/>
            <a:ext cx="10789920" cy="4572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199632"/>
            <a:ext cx="50292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6318504"/>
            <a:ext cx="1040587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教学提示：外部迹象的共同特征是“来自企业外部、相对客观”，因此优先于内部迹象加以考虑。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02 迹象与测试时点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减值迹象：内部迹象（三项）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3154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6387"/>
                <a:gridCol w="4963363"/>
                <a:gridCol w="4100169"/>
              </a:tblGrid>
              <a:tr h="78867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具体迹象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研究生层次的解读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内部信息来源①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有证据表明资产已经陈旧过时或者其实体已经损坏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物理与功能性贬值；需区分“可修复”与“不可修复”，后者才构成减值迹象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内部信息来源②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资产已经或者将被闲置、终止使用或者计划提前处置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管理层决策直接改变资产的未来经济利益；注意与 CAS 42 持有待售的衔接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内部信息来源③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企业内部报告的证据表明资产的经济绩效已经低于或者将低于预期，如资产所创造的净现金流量或者实现的营业利润（或亏损）远远低于预计金额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这是最容易被管理层操纵的一条：预算、预测均由内部生成，缺乏外部参照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4526280"/>
            <a:ext cx="10789920" cy="86868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4526280"/>
            <a:ext cx="50292" cy="86868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645152"/>
            <a:ext cx="1040587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研究视角：内部迹象③是“信息不对称”最集中的环节。管理层既决定预算，又判断是否出现迹象，还主导未来现金流预测——三重裁量叠加，构成减值研究识别操纵的核心场景。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532120"/>
            <a:ext cx="10789920" cy="6858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532120"/>
            <a:ext cx="50292" cy="6858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650992"/>
            <a:ext cx="10405872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结论性判断规则：只要存在上述任一迹象，就应当估计可收回金额；不存在迹象，一般不进行减值测试（三类强制测试资产除外）。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02 迹象与测试时点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测试时点与频率：三类规则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规则一：一般资产 —— 资产负债表日判断迹象，出现迹象即测试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不是每年都必须计算可收回金额，而是每年都必须“判断迹象”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规则二：强制年度测试资产 —— 商誉、寿命不确定无形资产、尚未可使用的无形资产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每年都测试，与是否存在迹象无关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可以在年度内任意时点进行，但各年应当保持一致，不得随意变更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企业合并当期取得的商誉，应在购买日所属年度即完成首次测试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规则三：特殊时点 —— 交易或事项发生时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企业合并、资产处置、资产划归持有待售、重组计划批准等情形下需重新评估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商誉减值测试与企业合并的衔接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购买日后 12 个月内若出现新证据调整合并对价分摊，应先完成对价分摊再测试商誉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623560"/>
            <a:ext cx="10789920" cy="594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623560"/>
            <a:ext cx="50292" cy="59436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易错点：把“每年判断减值迹象”误读为“每年计算可收回金额”。前者是所有资产的义务，后者只针对出现迹象的资产。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可收回金额的计量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Measurement of Recoverable Amount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可收回金额 = max（公允价值减处置费用，未来现金流量现值）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为什么是“孰高”而不是“孰低”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公允价值减处置费用的构成与证据层级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未来现金流量现值：现金流量口径与折现率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核心公式与“孰高”的经济逻辑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88720"/>
            <a:ext cx="10789920" cy="8229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8872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可收回金额 ＝ max ｛ 公允价值 － 处置费用 ,　预计未来现金流量的现值 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为什么取“较高者”？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5349240" cy="36210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98064"/>
            <a:ext cx="4946904" cy="3300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企业持有资产有两条退出路径：卖掉，或继续使用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卖掉 → 公允价值的净额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继续用 → 未来现金流量的现值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理性企业会选择两者中更有利的一条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因此资产的“可收回价值”应为较优路径的结果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若强制取较低者，会高估减值，不符合经济现实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注意：不是企业可以“自由选择”，而是必须取两者中的较高者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194560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9456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三条必须掌握的推论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651760"/>
            <a:ext cx="5349240" cy="36210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798064"/>
            <a:ext cx="4946904" cy="3300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推论一：只要有一项超过账面价值，即无须计提减值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不必计算另一项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推论二：若两项都无法可靠估计，则不能确认减值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例如资产公允价值无法可靠计量，且未来现金流量亦无法估计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推论三：“孰高”使减值确认具有天然的门槛效应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管理层可通过提高其中一项估计值来规避减值确认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这正是操纵研究中经常检验的机制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第一项：公允价值减去处置费用后的净额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公允价值的确定（CAS 39 公允价值计量）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第一层次：相同资产或负债在活跃市场上的报价（未经调整）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第二层次：类似资产的活跃市场报价，或可直接/间接观察的输入值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第三层次：不可观察输入值（估值技术，如现金流量折现、市场乘数）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处置费用：可直接归属于资产处置的增量费用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包括：法律费用、相关税费、搬运费，以及使资产达到可销售状态的直接费用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不包括：财务费用、所得税费用（属于企业整体层面，不是处置的增量成本）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不包括：与资产处置无关的管理费用分摊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实务证据来源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已签订但尚未履行的销售协议价格（最佳证据）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活跃市场报价；同类资产近期交易价格；行业估值报告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623560"/>
            <a:ext cx="10789920" cy="5943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623560"/>
            <a:ext cx="50292" cy="5943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判断标准：如果这笔支出“不处置就不会发生”，它才属于处置费用。这是区分增量费用与期间费用的核心判据。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第二项：预计未来现金流量的现值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现金流量口径：三条铁律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铁律一：以资产“当前状况”为基础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不包括尚未承诺的重组、改良或未来投资产生的现金流量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若改良已承诺，则应反映在现金流中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铁律二：不含筹资活动与所得税相关现金流量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利息、股利支出不扣除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所得税在折现率中作为税前口径处理，不在现金流中扣除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铁律三：以税前口径、内部一致为原则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现金流与折现率的口径必须匹配（税前对税前）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折现率与预测期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折现率：税前利率（pre-tax rate）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反映当前市场对货币时间价值的评估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反映资产特有的风险，而非企业整体风险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实务做法：先算税后折现率再换算为税前（需迭代求解）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预测期：通常最多涵盖 5 年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除非能证明更长期间更合理，且有可靠预算支持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终值处理：稳定期可用永续增长模型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外币现金流：先折现，再按资产负债表日即期汇率折算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现值计算：公式、参数与常见陷阱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88720"/>
            <a:ext cx="10789920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8872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</a:rPr>
              <a:t>PV ＝ Σ [ CFt / (1 + r)^t ] ＋ 终值 / (1 + r)^n　　（r 为税前折现率）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148840"/>
          <a:ext cx="1078991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4790"/>
                <a:gridCol w="4747564"/>
                <a:gridCol w="4747564"/>
              </a:tblGrid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常见错误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CFt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第 t 期由该资产（或资产组）产生的净现金流量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把企业整体现金流、筹资现金流或所得税现金流计入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税前折现率，反映资产特有风险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误用加权平均资本成本（WACC）的税后口径而不做换算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t / n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预测期，通常 5 年以内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为了做出“想要的结果”而随意延长预测期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终值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永续期价值，常采用 g 稳定增长模型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g 取值高于长期通胀率甚至高于 GDP 增速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外币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先折现，后按资产负债表日即期汇率折算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先折算现金流再折现，或使用平均汇率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3232" y="5532120"/>
            <a:ext cx="10789920" cy="68580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532120"/>
            <a:ext cx="50292" cy="6858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650992"/>
            <a:ext cx="10405872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研究视角：预测期长度、永续增长率 g、折现率 r 三个参数中任意一个的微小调整，都可能改变“是否减值”的结论——这构成了减值测试最集中的主观性来源，也是实证中识别操纵的抓手。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计量示例：单项资产是否减值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207008"/>
          <a:ext cx="10789919" cy="30175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7299"/>
                <a:gridCol w="2517540"/>
                <a:gridCol w="2517540"/>
                <a:gridCol w="2517540"/>
              </a:tblGrid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甲设备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乙设备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丙设备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1,000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800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600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公允价值减处置费用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930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760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无法可靠确定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预计未来现金流量现值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980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850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640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可收回金额（孰高）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980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850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640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减值损失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20 万元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计提 20 万元减值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无须计提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02A43"/>
                          </a:solidFill>
                          <a:latin typeface="Microsoft YaHei"/>
                        </a:rPr>
                        <a:t>无须计提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315968"/>
            <a:ext cx="107899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甲设备：孰高取 980，低于账面 1,000，计提减值 20 万元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乙设备：孰高取 850，高于账面 800，无须计提（即使公允价值净额 760 低于账面）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这正是“孰高”的关键作用：单项估值低不必然导致减值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丙设备：公允价值无法可靠确定，仅以现值 640 与账面 600 比较，无须计提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计提分录（甲设备）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978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2A2A"/>
                </a:solidFill>
                <a:latin typeface="Microsoft YaHei"/>
              </a:rPr>
              <a:t>借：资产减值损失　20 万元　　贷：固定资产减值准备　20 万元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03 可收回金额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本章小结与检查清单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公式口诀：可收回金额 = 孰高（卖价净额，用出来的现值）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判断顺序：先看是否强制测试 → 再找迹象 → 然后估可收回金额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两项中只要一项高于账面价值，立即停止，不计提减值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公允价值优先用市场证据，无市场证据才用估值技术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处置费用只含增量费用，不含财务费用与所得税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现值口径：当前状况、不含筹资与所得税、税前折现率、一般不超过 5 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600" b="1" i="0">
                <a:solidFill>
                  <a:srgbClr val="102A43"/>
                </a:solidFill>
                <a:latin typeface="Microsoft YaHei"/>
              </a:rPr>
              <a:t>外币现金流：先折现、后折算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0789920" cy="12344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4937760"/>
            <a:ext cx="50292" cy="12344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056632"/>
            <a:ext cx="10405872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2A43"/>
                </a:solidFill>
                <a:latin typeface="Microsoft YaHei"/>
              </a:rPr>
              <a:t>课堂练习（3 分钟）：某设备账面价值 500 万元，公允价值减处置费用 480 万元，预计未来现金流量现值 470 万元。是否减值？减值多少？　答案：600 万元口径不成立——孰高为 480 万元，低于 500 万元，计提减值 20 万元。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资产组的认定与减值分摊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Cash-Generating Units and Allocation of Impairment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为什么需要资产组：单项资产现金流不可单独估计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资产组的认定标准与管理层监控方式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减值损失的分摊顺序与“不得低于”下限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二次分摊：差额如何转由其他资产承担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为什么需要资产组：一个无法回避的计量难题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88720"/>
            <a:ext cx="10789920" cy="1051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88720"/>
            <a:ext cx="50292" cy="10515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307592"/>
            <a:ext cx="10405872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02A43"/>
                </a:solidFill>
                <a:latin typeface="Microsoft YaHei"/>
              </a:rPr>
              <a:t>现实问题：某钢铁企业的一条炼钢生产线，由高炉、连铸机、轧机等数十项固定资产构成。单独看高炉，它不能脱离其他设备独立产生现金流入——高炉的“公允价值减处置费用”可能只是废钢价值，而其“未来现金流量现值”根本无法单独估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77440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资产组概念的经济含义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834640"/>
            <a:ext cx="5349240" cy="343814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80944"/>
            <a:ext cx="4946904" cy="3118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资产组：企业可以认定的最小资产组合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其产生的现金流入应当基本上独立于其他资产或资产组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关键词是“最小”与“独立”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“最小”要求不能再细分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“独立”要求现金流可分离观测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资产组组合：由若干个资产组组成的最小组合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主要服务于总部资产与商誉的测试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确定资产组的实质：寻找“现金流可独立核算的最小单元”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2377440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37744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认定依据：准则给出的两条线索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834640"/>
            <a:ext cx="5349240" cy="343814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4946904" cy="3118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线索一：管理层对生产经营活动的管理或监控方式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如按生产线、按事业部、按门店、按矿区分别考核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线索二：管理层对资产使用或处置的决策方式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如可以整体出售、可以单独关停的单元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两条线索指向同一结论：会计单元应与管理单元对应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合理性来源：管理层的内部报告本身就是现金流信息的载体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资产组认定的三条操作规则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规则一：以现金流入是否独立为唯一实质标准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不同资产组的现金流入应当基本独立，不能相互替代或混同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若两个车间共用同一销售渠道且无法分拆收入，通常应合并为一个资产组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规则二：不得大于报告分部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资产组或资产组组合的确定，应与 CAS 35 分部报告的口径相互衔接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规则三：一经确定，各期应当保持一致，不得随意变更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确需变更的，应作为会计估计变更处理，并在附注中披露变更原因与影响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这条规定的目的：防止企业通过“重新划分资产组”来调节减值结果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常见资产组示例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制造业：按生产线或按工厂；零售业：按门店或按区域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采掘业：按矿区；金融业：按业务条线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532120"/>
            <a:ext cx="10789920" cy="713232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532120"/>
            <a:ext cx="50292" cy="713232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650992"/>
            <a:ext cx="104058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操纵警示：资产组划分是减值操纵最隐蔽的手段之一。把亏损资产并入一个盈利能力强的大资产组，可以稀释减值；反之，把优质资产单独剥离，则可以让问题资产“无处藏身”。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资产组减值损失的分摊：四步法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37490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2185"/>
                <a:gridCol w="4963363"/>
                <a:gridCol w="3884371"/>
              </a:tblGrid>
              <a:tr h="74980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操作内容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要点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第一步：计量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比较资产组账面价值（含分摊的总部资产与商誉）与可收回金额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账面价值须与可收回金额口径一致：都应包含同一组资产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第二步：先抵商誉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减值损失首先抵减分摊至该资产组的商誉账面价值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商誉的“缓冲垫”作用：先于其他资产被冲减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第三步：按比例分摊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剩余损失按组内其他各项资产账面价值所占比重分摊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以账面价值为权重，而非公允价值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第四步：检查下限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抵减后各资产账面价值不得低于以下三者中的最高者：① 该资产公允价值减处置费用后的净额（若可确定）；② 该资产预计未来现金流量现值（若可确定）；③ 零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下限限制导致“分摊不进去”的损失，须进行二次分摊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120640"/>
            <a:ext cx="10789920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120640"/>
            <a:ext cx="50292" cy="7772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239512"/>
            <a:ext cx="10405872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为什么要有下限？因为单项资产本身的可收回金额就是它的“减值上限”——如果某项资产单独看并不减值，就不应因所在资产组减值而被过度冲减。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016752"/>
            <a:ext cx="10789920" cy="621792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6016752"/>
            <a:ext cx="50292" cy="621792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135624"/>
            <a:ext cx="104058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二次分摊规则：未分摊的损失，按比例分摊至组内其他资产（即尚未触及下限的资产），直至全部分摊完毕或所有资产均触及下限（账面价值降至零为止）。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分摊下限与二次分摊：图解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868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868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示例：某资产组账面价值 1,000 万元（A 600 + B 300 + C 100），可收回金额 800 万元，减值损失 200 万元。假定 A 资产的可收回金额无法单独确定，B 资产单独可收回金额为 260 万元，C 资产单独可收回金额为 100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212848"/>
          <a:ext cx="10789917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38052"/>
                <a:gridCol w="1361834"/>
                <a:gridCol w="2304643"/>
                <a:gridCol w="1361834"/>
                <a:gridCol w="1780860"/>
                <a:gridCol w="1780860"/>
                <a:gridCol w="1361834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资产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账面价值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按比例分摊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分摊后账面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单独可收回金额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是否触及下限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实际分摊额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200×600/1000 = 120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480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无法确定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200×300/1000 = 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240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否（240 &lt; 260 未越界）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200×100/1000 = 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100（孰高后仍为 100）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1,000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800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4553712"/>
            <a:ext cx="107899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00" b="1" i="0">
                <a:solidFill>
                  <a:srgbClr val="102A43"/>
                </a:solidFill>
                <a:latin typeface="Microsoft YaHei"/>
              </a:rPr>
              <a:t>本例未触及下限，故无须二次分摊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00" b="1" i="0">
                <a:solidFill>
                  <a:srgbClr val="102A43"/>
                </a:solidFill>
                <a:latin typeface="Microsoft YaHei"/>
              </a:rPr>
              <a:t>若假设 B 资产单独可收回金额为 200 万元：按比例应分摊 60 万元，分摊后 240 万元低于下限 200 万元？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150" b="0" i="0">
                <a:solidFill>
                  <a:srgbClr val="5A636B"/>
                </a:solidFill>
                <a:latin typeface="Microsoft YaHei"/>
              </a:rPr>
              <a:t>错误！240 万元高于 200 万元，仍未越界。下限的判定是“分摊后账面价值 ≥ 该资产自身可收回金额”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150" b="0" i="0">
                <a:solidFill>
                  <a:srgbClr val="5A636B"/>
                </a:solidFill>
                <a:latin typeface="Microsoft YaHei"/>
              </a:rPr>
              <a:t>只有当“分摊后账面价值 &lt; 该资产自身可收回金额”时，才认定为越界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00" b="1" i="0">
                <a:solidFill>
                  <a:srgbClr val="102A43"/>
                </a:solidFill>
                <a:latin typeface="Microsoft YaHei"/>
              </a:rPr>
              <a:t>越界情形的处理：把该资产分摊额压低到“账面价值 = 该资产自身可收回金额”，差额转由其他资产二次分摊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二次分摊：完整计算流程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7043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某资产应分摊额 ＝ min（按比例分摊额，账面价值 － 该资产自身可收回金额）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第一步：按账面价值比例计算各资产的“名义分摊额”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第二步：逐项检查“名义分摊额”是否超过该资产可承受的减值额度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可承受额度 = 账面价值 － 该资产自身可收回金额（若该资产的可收回金额可确定）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若该资产的可收回金额无法确定，则可承受额度 = 账面价值（即最多减至零）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第三步：对越界的资产，按可承受额度封顶，记录“未能分摊的损失”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第四步：把未能分摊的损失，在剩余资产之间按账面价值比例再分摊一次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第五步：重复第二至第四步，直至损失全部分摊完毕，或所有资产账面价值降至其下限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532120"/>
            <a:ext cx="10789920" cy="713232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532120"/>
            <a:ext cx="50292" cy="713232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650992"/>
            <a:ext cx="104058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极端情形：若全部资产均已触及下限而损失仍未分摊完毕，则该部分损失无法在组内继续分摊——在含商誉的资产组测试中，这意味着商誉已被完全冲减；若仍有余額，通常反映资产组划分本身可能存在问题。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04 资产组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资产组减值分录与后续计量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5E8C"/>
                </a:solidFill>
                <a:latin typeface="Microsoft YaHei"/>
              </a:rPr>
              <a:t>确认分录（以固定资产为主）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B02A2A"/>
                </a:solidFill>
                <a:latin typeface="Microsoft YaHei"/>
              </a:rPr>
              <a:t>借：资产减值损失　　　　　　　　　　　　　×××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B02A2A"/>
                </a:solidFill>
                <a:latin typeface="Microsoft YaHei"/>
              </a:rPr>
              <a:t>　　贷：固定资产减值准备（各明细）　　　　　×××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02A2A"/>
                </a:solidFill>
                <a:latin typeface="Microsoft YaHei"/>
              </a:rPr>
              <a:t>　　　　无形资产减值准备 / 商誉减值准备　　　×××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97480"/>
            <a:ext cx="107899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若资产组中包含商誉：先冲减商誉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借：资产减值损失　　贷：商誉减值准备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不足部分再分摊至其他资产，编制相应分录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减值后的后续计量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固定资产、无形资产应以扣除减值准备后的新账面价值为基础，在剩余使用寿命内重新计算折旧或摊销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折旧方法、残值、剩余寿命应一并复核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与递延所得税的衔接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资产账面价值小于其计税基础，形成可抵扣暂时性差异，应确认递延所得税资产（以未来可取得应纳税所得额为限）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不得转回，但折旧调整是“隐性转回”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通过降低未来折旧额，减值损失在后续期间以“少提折旧”的形式被间接弥补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总部资产与商誉减值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Corporate Assets and Goodwill Impairment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总部资产的特征与两种处理路径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最小资产组组合的构建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商誉分摊单元及其上限：不得大于报告分部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商誉减值测试的计算套路与部分商誉法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总部资产：特征与处理路径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8229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8229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02A43"/>
                </a:solidFill>
                <a:latin typeface="Microsoft YaHei"/>
              </a:rPr>
              <a:t>总部资产 ＝ 企业集团或其事业部的办公楼、电子数据处理设备、研发中心等。其特征是：难以脱离其他资产或资产组产生独立的现金流入，其账面价值难以完全归属于某一资产组。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12848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路径一：能够合理、一致分摊的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5349240" cy="36027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16352"/>
            <a:ext cx="4946904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能够按合理和一致的基础分摊至相关资产组的，直接分摊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分摊基础示例：各资产组的收入占比、资产规模占比、人员数量占比、使用面积占比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分摊基础应与总部资产产生现金流的方式相关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分摊后：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将该资产组（含分摊的总部资产）的账面价值与其可收回金额比较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减值损失按前述四步法处理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优点：逻辑清晰，结果精确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难点：分摊基础的选择具有裁量空间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2212848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212848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路径二：难以合理分摊的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670048"/>
            <a:ext cx="5349240" cy="36027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816352"/>
            <a:ext cx="4946904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先在“不考虑总部资产”的前提下测试各资产组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确定各资产组自身是否减值并处理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再将总部资产账面价值与“最小资产组组合”的账面价值合计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与该最小资产组组合的可收回金额比较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最小资产组组合：由若干资产组构成的最小组合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该组合能够涵盖总部资产所产生的现金流入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减值损失的处理顺序：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先冲减总部资产账面价值，再按比例分摊至各资产组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最小资产组组合：构建逻辑与计算顺序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为什么“最小资产组组合”必须是“最小”？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组合越大，越可能包含盈利能力强的资产组，从而稀释减值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准则要求“最小”，正是为了压缩人为扩大测试单元的空间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构建逻辑：从能够涵盖总部资产现金流入的最小单元出发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若总部资产服务于事业部，则以该事业部下属资产组合为单元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若总部资产服务于整个企业，则可能以全部资产组为单元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计算顺序（路径二）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① 分别测试各资产组（不含总部资产），确认各自的减值损失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② 汇总各资产组调整后的账面价值，加上总部资产账面价值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③ 与最小资产组组合的可收回金额比较，确认整体减值损失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50" b="0" i="0">
                <a:solidFill>
                  <a:srgbClr val="5A636B"/>
                </a:solidFill>
                <a:latin typeface="Microsoft YaHei"/>
              </a:rPr>
              <a:t>④ 整体损失先抵减总部资产，再按比例分摊至各资产组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500" b="1" i="0">
                <a:solidFill>
                  <a:srgbClr val="102A43"/>
                </a:solidFill>
                <a:latin typeface="Microsoft YaHei"/>
              </a:rPr>
              <a:t>注意：第①步已确认的减值不能在第④步重复确认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623560"/>
            <a:ext cx="10789920" cy="594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623560"/>
            <a:ext cx="50292" cy="59436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易错点：先测资产组再测组合，目的是避免对已确认的减值重复计提；同时保证总部资产只能在“考虑其整体现金流入”的层面上被测试。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商誉：为什么必须单独规定减值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商誉的经济性质与减值难题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 = 合并成本 － 取得的可辨认净资产公允价值份额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商誉不单独产生现金流，必须依附于资产组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商誉的账面价值无法单独验证，只能通过所在资产组的整体盈利来间接验证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商誉不作为无形资产摊销（CAS 20），而是每年减值测试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商誉减值往往是企业“爆雷”的集中体现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分摊规则：三个层次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① 自购买日起，按合理方法分摊至相关资产组或资产组组合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② 分摊对象应能代表企业内设的、能够从合并协同效应中受益的资产组或组合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③ 分摊单元不得大于按照 CAS 35 确定的报告分部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注意：CAS 8 的口径是“报告分部”，IAS 36 的口径是“经营分部”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分摊一经确定，各期应保持一致，不得随意变更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商誉减值测试：标准计算套路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731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7043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步骤一：不含商誉的可收回金额 → 步骤二：含商誉的可收回金额 → 步骤三：差额即为商誉减值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103120"/>
          <a:ext cx="10789919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3782"/>
                <a:gridCol w="4315968"/>
                <a:gridCol w="4100169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计算内容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① 计算不含商誉的账面价值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各单项资产账面价值之和（已含分摊的总部资产）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这是资产组的“实体”部分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② 比较：不含商誉账面价值 vs 可收回金额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若可收回金额较低，确认资产组自身的减值损失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该损失先分摊至各单项资产（按四步法）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③ 调整后账面价值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各单项资产账面价值 － 已确认减值 ＋ 商誉账面价值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得到含商誉的账面价值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④ 比较：含商誉账面价值 vs 可收回金额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差额即为归属于商誉的减值损失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注意可收回金额在两步中相同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⑤ 确认商誉减值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借：资产减值损失　贷：商誉减值准备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商誉减至零为限，不足部分不再确认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3232" y="5559552"/>
            <a:ext cx="10789920" cy="65836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559552"/>
            <a:ext cx="50292" cy="65836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678424"/>
            <a:ext cx="1040587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关键理解：可收回金额是资产组（含商誉）的，只有一个数。两步比较的意义在于把“资产本身的减值”与“商誉的减值”剥离开来。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商誉减值计算：完整示例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8229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8229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甲公司 2024 年末对收购乙公司形成的商誉进行减值测试。乙公司作为一个资产组，其不含商誉的账面价值为 3,600 万元，分摊的商誉账面价值为 900 万元，该资产组的可收回金额为 4,000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48840"/>
          <a:ext cx="10789920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8992"/>
                <a:gridCol w="7013448"/>
                <a:gridCol w="2697480"/>
              </a:tblGrid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金额（万元）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①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不含商誉的资产组账面价值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3,600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4,000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③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比较：3,600 &lt; 4,000，资产组自身无减值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④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含商誉的账面价值 = 3,600 + 900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4,500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⑤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4,000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⑥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商誉减值损失 = 4,500 － 4,000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⑦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商誉减值后账面价值 = 900 － 500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400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16636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02A2A"/>
                </a:solidFill>
                <a:latin typeface="Microsoft YaHei"/>
              </a:rPr>
              <a:t>借：资产减值损失　500 万元　　贷：商誉减值准备　500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636B"/>
                </a:solidFill>
                <a:latin typeface="Microsoft YaHei"/>
              </a:rPr>
              <a:t>要点：商誉减值 500 万元全部由商誉承担，不冲减资产组的其他资产。商誉减值准备在以后期间不得转回。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商誉减值计算：资产组自身也减值的复杂情形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6400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6400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承上例，若该资产组的可收回金额为 3,000 万元（低于不含商誉的账面价值 3,600 万元），则需要分两步计算。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1965960"/>
          <a:ext cx="10789919" cy="27431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5379"/>
                <a:gridCol w="5610758"/>
                <a:gridCol w="2373782"/>
              </a:tblGrid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计算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结果（万元）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第一步：资产组自身减值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不含商誉账面 3,600 － 可收回金额 3,000 = 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　分摊至各单项资产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按各单项资产账面价值比例分摊（须检查下限、必要时二次分摊）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　调整后不含商誉账面价值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3,600 － 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3,000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第二步：含商誉比较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（3,000 + 商誉 900）－ 可收回金额 3,000 = 900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900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　商誉减值损失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以商誉账面价值 900 万元为限，全额冲减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900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资产减值损失合计 1,500 万元（资产 600 + 商誉 900）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1,500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489204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02A2A"/>
                </a:solidFill>
                <a:latin typeface="Microsoft YaHei"/>
              </a:rPr>
              <a:t>借：资产减值损失　600 万元　　贷：固定资产减值准备等　600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B02A2A"/>
                </a:solidFill>
                <a:latin typeface="Microsoft YaHei"/>
              </a:rPr>
              <a:t>借：资产减值损失　900 万元　　贷：商誉减值准备　　　　　900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36B"/>
                </a:solidFill>
                <a:latin typeface="Microsoft YaHei"/>
              </a:rPr>
              <a:t>要点：先算资产组的减值，再算商誉的减值；顺序颠倒会导致商誉被过度冲减。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05 总部资产与商誉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部分商誉法与少数股东权益：研究生必知细节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部分商誉法（CAS 现行做法）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商誉只确认归属于母公司的部分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少数股东不确认商誉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在非全资子公司的资产组减值测试中：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需先将资产组账面价值“调整”为包含全部商誉（含少数股东部分）的口径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计算减值损失后，再按母公司持股比例确认归属于母公司的商誉减值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原因：资产组的可收回金额是与“整个资产组”对应的，而账面价值只反映了部分商誉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这是“内在不一致”所要求的调整步骤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与完全商誉法的区别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完全商誉法（IFRS 允许选择）：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在购买日即确认全部商誉（含少数股东部分）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测试时无须调整，直接比较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CAS 20 采用部分商誉法，即只确认归属于母公司的商誉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实务影响：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当子公司存在较大少数股东权益时，两种方法下的商誉减值金额可能显著不同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考试提示：这是一个高频陷阱——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“资产组账面价值”是否需要加回少数股东商誉，取决于题目给定条件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Recognition, Reversal and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减值损失的确认与分录体系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能否转回：一张表说清所有资产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不得转回的经济逻辑与代价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披露要求与审计关注点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06 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减值损失的确认与分录体系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42062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6387"/>
                <a:gridCol w="4531766"/>
                <a:gridCol w="4531766"/>
              </a:tblGrid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环节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会计处理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科目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计提减值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借：资产减值损失　贷：××资产减值准备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固定资产减值准备 / 无形资产减值准备 / 长期股权投资减值准备 / 投资性房地产减值准备 / 商誉减值准备 / 生产性生物资产减值准备 / 油气资产减值准备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资产组减值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同上，按分摊结果分别记入各资产明细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同上（须在明细中反映分摊金额）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借：资产减值损失　贷：商誉减值准备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商誉减值准备（不转回）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后续折旧/摊销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以扣除减值准备后的新账面价值为基础，在剩余使用寿命内重新计算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累计折旧 / 累计摊销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处置时结转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借：固定资产清理、累计折旧、固定资产减值准备　贷：固定资产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减值准备随资产一并转销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利润表列示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资产减值损失作为单独项目列示（属于营业利润的组成部分）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利润表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577840"/>
            <a:ext cx="10789920" cy="6400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577840"/>
            <a:ext cx="50292" cy="6400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696712"/>
            <a:ext cx="104058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注意：减值损失计入“资产减值损失”并构成营业利润，而不是作为营业外支出。这一列示方式使减值成为影响营业利润的直接因素，也强化了其作为盈余管理工具的作用。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06 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能否转回：一张表说清所有资产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9" cy="46634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5379"/>
                <a:gridCol w="1618488"/>
                <a:gridCol w="4100169"/>
                <a:gridCol w="2265883"/>
              </a:tblGrid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资产类别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能否转回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转回条件与上限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准则依据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固定资产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第十七条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无形资产（含寿命不确定）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第十七条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长期股权投资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第十七条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投资性房地产（成本模式）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生产性生物资产、油气资产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存货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可以转回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在原已计提的跌价准备金额内转回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1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应收款项、债权投资等金融资产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可以转回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按预期信用损失模型，损失准备可收回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22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持有待售非流动资产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特定条件可转回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划分为持有待售后的公允价值回升，在原减值范围内转回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42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递延所得税资产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可以转回（调整）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根据未来应纳税所得额的重新评估调整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18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989320"/>
            <a:ext cx="10789920" cy="54864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989320"/>
            <a:ext cx="50292" cy="54864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6108192"/>
            <a:ext cx="104058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口诀：长期资产减值“一经计提、不得转回”；存货与金融资产按各自准则可转回。牢记例外——持有待售与递延所得税资产的处理不属于 CAS 8 范畴。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06 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“不得转回”的经济逻辑与代价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支持不得转回的理由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理由一：长期资产减值多属持续性下降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技术过时、市场萎缩、法律环境变化通常不可逆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理由二：价值回升的证据难以客观验证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缺少活跃市场报价，回升主要依赖管理层预测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理由三：抑制最直接的盈余管理通道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防止“大洗澡—次年转回”的经典模式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理由四：可审计性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单向确认使审计师更容易检验，降低了与治理层的争议成本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代价与批评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代价一：后续期间可能高估损失（不确认价值回升）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代价二：损害会计信息的相关性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资产价值已恢复，报表却不反映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代价三：并未消除操纵，只是转移了操纵方式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从“转回时点操纵”变为“计提时点与金额操纵”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以及“商誉分摊与资产组划分操纵”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研究启示：禁令的效果需要用实证数据检验，而非理论推断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06 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披露要求：附注中的关键信息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一般披露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当期确认的资产减值损失金额，按资产类别分别列示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减值的原因、可收回金额的确定方法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可收回金额的计量披露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采用公允价值减处置费用的：公允价值层次、估值技术、关键输入值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采用未来现金流量现值的：折现率、预测期、增长率等关键假设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资产组相关披露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资产组的认定依据与构成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资产组划分发生变更的，应披露变更原因与对损益的影响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商誉相关披露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分摊至各资产组（组合）的商誉账面价值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各资产组的可收回金额及其确定方法、关键假设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当期确认的商誉减值损失金额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577840"/>
            <a:ext cx="10789920" cy="65836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577840"/>
            <a:ext cx="50292" cy="658368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696712"/>
            <a:ext cx="1040587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审计关注点：商誉减值测试的会计估计通常被列为关键审计事项（KAM），审计师需评价管理层预测的合理性、折现率的恰当性，以及是否与历史数据、行业趋势相符。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06 确认、转回与披露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实务中的减值“信号”：从披露看风险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70432"/>
          <a:ext cx="10789919" cy="37033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3278"/>
                <a:gridCol w="3560673"/>
                <a:gridCol w="4315968"/>
              </a:tblGrid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观察指标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可能含义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教学解读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商誉占净资产比例过高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并购溢价大，未来减值风险高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结合并购年份与业绩承诺完成情况分析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连续多年“不予减值”的商誉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可能存在减值测试流于形式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关注可收回金额与账面价值是否“刚好”接近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临近业绩承诺期满集中减值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并购标的业绩变脸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业绩承诺期的“保利润”动机消失，减值集中释放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亏损年度大额计提减值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“大洗澡”动机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为后续年度扭亏预留空间（长期资产不可转回）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减值年度更换高管或审计师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责任归属与预期管理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减值时点选择与治理层变更密切相关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同一资产组跨年度划分变更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可能的两类解释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经营重组等真实原因 vs 调节减值结果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120640"/>
            <a:ext cx="10789920" cy="77724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120640"/>
            <a:ext cx="50292" cy="77724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239512"/>
            <a:ext cx="10405872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课堂讨论：请找一家近三年计提过大额商誉减值的 A 股上市公司，阅读其减值测试披露，判断其关键假设是否合理、减值时点是否存在“择时”特征。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准则比较与实证证据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Cross-Standard Comparison and Empirical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CAS 8 与 IAS 36 的全面对比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商誉减值与利润操纵：来自实证研究的证据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重述与价值相关性：禁令是否有效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国际趋同的争议与展望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07 比较与实证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CAS 8 与 IAS 36：逐项差异对照表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18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3782"/>
                <a:gridCol w="4208068"/>
                <a:gridCol w="4208068"/>
              </a:tblGrid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比较维度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CAS 8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IAS 36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长期资产减值转回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禁止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允许（商誉除外），以“假设未减值时的账面价值”为上限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资产组概念表述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 / 资产组组合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cash-generating unit / group of CGUs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商誉分摊单元上限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不得大于报告分部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不得大于经营分部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商誉计量方法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部分商誉法（CAS 20）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部分商誉法或完全商誉法（IFRS 3 允许选择）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强制年度测试范围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商誉、寿命不确定无形资产、尚未可使用的无形资产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同上，另明确包括尚未可使用的无形资产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折现率口径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税前利率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税前利率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资产组变更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作为会计估计变更，需披露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需披露变更原因及影响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披露详细程度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相对概括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更为详细（含关键假设敏感性）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6035040"/>
            <a:ext cx="10789920" cy="5486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035040"/>
            <a:ext cx="50292" cy="5486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6153912"/>
            <a:ext cx="104058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国际趋同讨论：CAS 8 禁止转回与 IAS 36 允许转回，是中外准则最重要的一项实质差异，也是学术界研究“准则制定如何影响企业行为”的天然实验场景。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07 比较与实证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实证研究视角一：减值与盈余管理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研究问题：管理层会如何利用减值裁量权？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核心矛盾：减值确认的时点与金额高度依赖管理层估计，形成“信息不对称”租金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被反复验证的经典模式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“大洗澡”（big bath）：在亏损年度集中计提，为未来年度“减负”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利润平滑（income smoothing）：在业绩好的年度多提减值，业绩差的年度少提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择时（timing）：推迟商誉减值直到业绩承诺期满或管理层换届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50" b="1" i="0">
                <a:solidFill>
                  <a:srgbClr val="102A43"/>
                </a:solidFill>
                <a:latin typeface="Microsoft YaHei"/>
              </a:rPr>
              <a:t>中国制度背景的特殊性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2006 年禁止长期资产减值转回后，原有“计提—转回”通道被关闭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操纵行为向两个方向转移：① 减值计提时点的选择；② 商誉分摊与资产组划分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300" b="0" i="0">
                <a:solidFill>
                  <a:srgbClr val="5A636B"/>
                </a:solidFill>
                <a:latin typeface="Microsoft YaHei"/>
              </a:rPr>
              <a:t>商誉规模自 2014 年并购潮后急剧膨胀，2018 年前后集中爆雷，为研究提供了丰富样本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349240"/>
            <a:ext cx="10789920" cy="8229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349240"/>
            <a:ext cx="50292" cy="8229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468112"/>
            <a:ext cx="104058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02A43"/>
                </a:solidFill>
                <a:latin typeface="Microsoft YaHei"/>
              </a:rPr>
              <a:t>方法论提示：检验减值操纵常用的识别思路包括——亏损年度与减值金额的非线性关系、减值前盈余的分布（阈值附近的不连续）、商誉减值与后续业绩反转、以及减值与高管变更/薪酬的关系。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07 比较与实证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实证研究视角二：准则变更的经济后果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可直接研究的因果链条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链条：2006 年禁令 → 转回通道关闭 → 操纵方式转移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可用双重差分设计：以长期资产比重区分受影响程度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可检验的因变量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减值计提的频率与金额分布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减值与后续年度业绩的关系（是否可预测反转）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会计信息的价值相关性（ERC、股价反应）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审计费用与关键审计事项数量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两类相反的理论预期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预期一：禁令有效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减值与后续业绩的反转关系减弱 → 操纵减少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减值信息含量提高，市场反应更显著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预期二：禁令无效或部分无效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操纵仅从“转回”转移至“计提”，总操纵水平不变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盈余分布的阈值不连续依然存在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研究结论取决于识别策略与样本期间的选择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这正是研究生阶段应当训练的判断力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07 比较与实证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案例研讨：商誉减值的信息含量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观察现象：A 股商誉规模在 2014—2017 年快速扩张，2018 年集中计提减值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并购重组高峰期的高溢价，形成了巨额商誉“堰塞湖”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业绩承诺期内“保利润”，承诺期满后集中减值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市场反应的两个悖论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悖论一：减值公告的股价反应有时很弱——因为市场早已预期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悖论二：减值公告的股价反应有时为负但幅度不大——因为减值不涉及现金流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教学价值：会计信息含量不等于会计数字本身，而取决于其“未被预期”的部分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减值信息含量研究需控制预期因素（分析师预测、业绩预告等）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400" b="1" i="0">
                <a:solidFill>
                  <a:srgbClr val="102A43"/>
                </a:solidFill>
                <a:latin typeface="Microsoft YaHei"/>
              </a:rPr>
              <a:t>延伸：商誉减值与债务契约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减值会降低净资产，可能触发债务契约条款，形成“避免减值”的激励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50" b="0" i="0">
                <a:solidFill>
                  <a:srgbClr val="5A636B"/>
                </a:solidFill>
                <a:latin typeface="Microsoft YaHei"/>
              </a:rPr>
              <a:t>这解释了为何部分企业在现金流恶化时仍迟迟不计提商誉减值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623560"/>
            <a:ext cx="10789920" cy="594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623560"/>
            <a:ext cx="50292" cy="59436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研讨任务：给定三家同行业公司的减值披露，比较其折现率、预测期与增长率假设，判断哪一家存在“规避减值”的迹象，并说明你的证据与推理链。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8860B"/>
                </a:solidFill>
                <a:latin typeface="Microsoft YaHei"/>
              </a:rPr>
              <a:t>PART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课堂案例与计算实训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8BE"/>
                </a:solidFill>
                <a:latin typeface="Microsoft YaHei"/>
              </a:rPr>
              <a:t>Cases and Computational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315968"/>
            <a:ext cx="1371600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177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例题一：单项资产减值与分录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例题二：资产组减值分摊（含下限与二次分摊）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例题三：总部资产的两条处理路径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例题四：商誉减值的两步法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4E0"/>
                </a:solidFill>
                <a:latin typeface="Microsoft YaHei"/>
              </a:rPr>
              <a:t>— 例题五：部分商誉法与少数股东权益调整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263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6B80"/>
                </a:solidFill>
                <a:latin typeface="Microsoft YaHe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例题一：单项资产减值与后续折旧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9144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70432"/>
            <a:ext cx="50292" cy="9144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89304"/>
            <a:ext cx="10405872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资料：甲公司 2024 年 12 月 31 日对一台生产设备进行减值测试。该设备原价 2,000 万元，已计提折旧 600 万元，无减值准备。公允价值减处置费用为 1,250 万元，预计未来现金流量现值为 1,180 万元。该设备剩余使用寿命 5 年，采用直线法，无残值。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240280"/>
          <a:ext cx="10789919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89580"/>
                <a:gridCol w="4963363"/>
                <a:gridCol w="3236976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计算过程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① 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2,000 － 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1,400 万元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② 可收回金额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max（1,250，1,180）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1,250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③ 减值损失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1,400 － 1,250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150 万元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④ 减值后账面价值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1,250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1,250 万元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⑤ 后续年折旧额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1,250 ÷ 5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250 万元/年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⑥ 若未减值则年折旧额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1,400 ÷ 5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280 万元/年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⑦ 折旧减少额（隐性转回）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280 － 250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30 万元/年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3035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02A2A"/>
                </a:solidFill>
                <a:latin typeface="Microsoft YaHei"/>
              </a:rPr>
              <a:t>借：资产减值损失　150 万元　　贷：固定资产减值准备　150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36B"/>
                </a:solidFill>
                <a:latin typeface="Microsoft YaHei"/>
              </a:rPr>
              <a:t>思考：减值后每年少提 30 万元折旧，5 年累计 150 万元——这恰好等于已确认的减值损失。这说明“不得转回”在损益上仍可通过折旧被间接抵消。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例题二：资产组减值分摊（触及下限与二次分摊）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52144"/>
            <a:ext cx="10789920" cy="868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52144"/>
            <a:ext cx="50292" cy="868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71016"/>
            <a:ext cx="1040587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02A43"/>
                </a:solidFill>
                <a:latin typeface="Microsoft YaHei"/>
              </a:rPr>
              <a:t>资料：某资产组由 A、B、C 三项资产构成，账面价值分别为 600、300、100 万元（合计 1,000 万元）。该资产组的可收回金额为 700 万元。A 资产公允价值减处置费用为 480 万元，B 资产单独可收回金额为 260 万元，C 资产单独可收回金额为 90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21408"/>
          <a:ext cx="1078992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39216"/>
                <a:gridCol w="1198880"/>
                <a:gridCol w="1798320"/>
                <a:gridCol w="1198880"/>
                <a:gridCol w="1438656"/>
                <a:gridCol w="1438656"/>
                <a:gridCol w="1558544"/>
                <a:gridCol w="1318768"/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资产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账面价值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名义分摊额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分摊后账面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自身可收回金额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可承受额度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是否越界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实际分摊额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300×600/1000=180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420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480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600－480=120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是（180&gt;120）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300×300/1000=90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210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260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300－260=40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是（90&gt;40）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300×100/1000=30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100－90=10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是（30&gt;10）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小计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1,000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170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</a:rPr>
                        <a:t>170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4114800"/>
            <a:ext cx="107899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250" b="1" i="0">
                <a:solidFill>
                  <a:srgbClr val="102A43"/>
                </a:solidFill>
                <a:latin typeface="Microsoft YaHei"/>
              </a:rPr>
              <a:t>第一步：名义分摊额合计 300 万元，但三项资产的可承受额度合计仅 170 万元，出现未分摊损失 300 － 170 = 130 万元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100" b="0" i="0">
                <a:solidFill>
                  <a:srgbClr val="5A636B"/>
                </a:solidFill>
                <a:latin typeface="Microsoft YaHei"/>
              </a:rPr>
              <a:t>注意：三项资产全部越界，说明“可承受额度”口径下已无资产可继续分摊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250" b="1" i="0">
                <a:solidFill>
                  <a:srgbClr val="102A43"/>
                </a:solidFill>
                <a:latin typeface="Microsoft YaHei"/>
              </a:rPr>
              <a:t>第二步：二次分摊 —— 剩余资产的可承受额度均已用尽，故 130 万元无法继续分摊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100" b="0" i="0">
                <a:solidFill>
                  <a:srgbClr val="5A636B"/>
                </a:solidFill>
                <a:latin typeface="Microsoft YaHei"/>
              </a:rPr>
              <a:t>实务含义：这通常提示资产组划分或可收回金额估计存在问题，应重新审视测试单元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250" b="1" i="0">
                <a:solidFill>
                  <a:srgbClr val="102A43"/>
                </a:solidFill>
                <a:latin typeface="Microsoft YaHei"/>
              </a:rPr>
              <a:t>第三步：确认减值损失合计 170 万元（A 120 + B 40 + C 10）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例题二（续）：正常的二次分摊情形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52144"/>
            <a:ext cx="10789920" cy="7772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52144"/>
            <a:ext cx="50292" cy="77724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71016"/>
            <a:ext cx="10405872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修正资料：A 资产可承受额度 120 万元（越界），B、C 资产自身可收回金额无法确定（即可承受额度为其全部账面价值）。资产组账面价值 1,000 万元，可收回金额 700 万元，减值损失 300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057400"/>
          <a:ext cx="10789918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7984"/>
                <a:gridCol w="3236976"/>
                <a:gridCol w="1294790"/>
                <a:gridCol w="1294790"/>
                <a:gridCol w="1294790"/>
                <a:gridCol w="1510588"/>
              </a:tblGrid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计算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① 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600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1,000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② 名义分摊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按 6:3:1 分摊 300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180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③ 可承受额度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A：600－480=120；B、C 无法确定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④ 封顶后分摊额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A 取较小值 120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240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⑤ 未分摊损失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300 － 240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⑥ 二次分摊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按 B:C = 3:1 再分摊 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⑦ 最终分摊额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④ + ⑥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135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⑧ 减值后账面价值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① － ⑦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480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165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55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700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349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02A2A"/>
                </a:solidFill>
                <a:latin typeface="Microsoft YaHei"/>
              </a:rPr>
              <a:t>借：资产减值损失　300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02A2A"/>
                </a:solidFill>
                <a:latin typeface="Microsoft YaHei"/>
              </a:rPr>
              <a:t>贷：固定资产减值准备——A 120 万元；——B 135 万元；——C 45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36B"/>
                </a:solidFill>
                <a:latin typeface="Microsoft YaHei"/>
              </a:rPr>
              <a:t>验证：A 减值后账面价值 480 万元，恰等于其自身可收回金额——下限约束生效。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例题三：总部资产的两种处理路径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52144"/>
            <a:ext cx="10789920" cy="7315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52144"/>
            <a:ext cx="50292" cy="73152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71016"/>
            <a:ext cx="104058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资料：甲公司总部有一栋办公楼（账面价值 800 万元），服务于 A、B 两个资产组。A 组账面价值 1,600 万元，B 组账面价值 2,400 万元。办公楼可按资产规模基础分摊。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路径一：能够合理分摊（本例）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468880"/>
            <a:ext cx="5349240" cy="38039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4946904" cy="3483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分摊基础：资产规模比 A:B = 16:24 = 2:3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A 组分摊 800×2/5 = 320 万元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B 组分摊 800×3/5 = 480 万元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分摊后各资产组账面价值：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A 组 1,600 + 320 = 1,920 万元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B 组 2,400 + 480 = 2,880 万元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分别与各组可收回金额比较并计提减值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A 组可收回金额 1,700 万元 → 减值 220 万元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B 组可收回金额 3,000 万元 → 无须减值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分摊基础的选择会影响结果，须保持一致性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2011680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11680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路径二：难以合理分摊时的顺序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468880"/>
            <a:ext cx="5349240" cy="38039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615184"/>
            <a:ext cx="4946904" cy="3483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① 先测试不含总部资产的各资产组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A 组（1,600）vs 其自身可收回金额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B 组（2,400）vs 其自身可收回金额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② 再测试最小资产组组合（A + B + 总部资产）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组合账面价值 = 1,600 + 2,400 + 800 = 4,800 万元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与组合可收回金额比较，确认整体减值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③ 整体减值先冲减总部资产，再分摊至 A、B 组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0502A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注意剔除第①步已确认的部分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例题四：商誉减值两步法（资产组自身亦减值）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52144"/>
            <a:ext cx="10789920" cy="8229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52144"/>
            <a:ext cx="50292" cy="82296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71016"/>
            <a:ext cx="104058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Microsoft YaHei"/>
              </a:rPr>
              <a:t>资料：甲公司 2024 年末测试收购乙公司形成的商誉。商誉账面价值 900 万元，乙公司资产组不含商誉的账面价值为 3,600 万元（其中：固定资产 2,000 万元、无形资产 1,000 万元、存货 600 万元）。该资产组可收回金额为 2,800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03120"/>
          <a:ext cx="10789919" cy="24688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89580"/>
                <a:gridCol w="4963363"/>
                <a:gridCol w="3236976"/>
              </a:tblGrid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计算过程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结果（万元）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① 资产组自身减值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3,600 － 2,800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② 分摊至各资产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固定资产 2,000、无形资产 1,000、存货 600（按比例；存货适用 CAS 1，须单独判断）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固定资产 444、无形资产 222、存货 134（示例）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③ 调整后不含商誉账面价值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3,600 － 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2,800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④ 含商誉账面价值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2,800 + 900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3,700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⑤ 商誉减值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3,700 － 2,800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900（以商誉账面价值为限）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⑥ 减值损失合计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800 + 900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02A43"/>
                          </a:solidFill>
                          <a:latin typeface="Microsoft YaHei"/>
                        </a:rPr>
                        <a:t>1,700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475488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02A2A"/>
                </a:solidFill>
                <a:latin typeface="Microsoft YaHei"/>
              </a:rPr>
              <a:t>借：资产减值损失　1,700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B02A2A"/>
                </a:solidFill>
                <a:latin typeface="Microsoft YaHei"/>
              </a:rPr>
              <a:t>　　贷：固定资产减值准备　444 万元；无形资产减值准备　222 万元；存货跌价准备　134 万元；商誉减值准备　900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36B"/>
                </a:solidFill>
                <a:latin typeface="Microsoft YaHei"/>
              </a:rPr>
              <a:t>教学要点：存货按 CAS 1 跌价准备处理（可转回），不属于 CAS 8 范畴；本题的关键是把两类准则的资产正确区分并分别处理。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例题五：部分商誉法下少数股东权益的调整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52144"/>
            <a:ext cx="10789920" cy="868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52144"/>
            <a:ext cx="50292" cy="86868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71016"/>
            <a:ext cx="1040587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02A43"/>
                </a:solidFill>
                <a:latin typeface="Microsoft YaHei"/>
              </a:rPr>
              <a:t>资料：甲公司持有乙公司 80% 股权（非全资子公司），购买日确认商誉 800 万元（仅归属母公司）。2024 年末，乙公司作为一个资产组，不含商誉的账面价值为 4,000 万元，资产组可收回金额为 4,500 万元。假定按完全商誉法计算的商誉总额应为 1,000 万元。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232" y="2148840"/>
          <a:ext cx="10789919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5379"/>
                <a:gridCol w="4963363"/>
                <a:gridCol w="3021177"/>
              </a:tblGrid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计算过程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结果（万元）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① 账面商誉（部分商誉法）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题目给定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② 完全商誉口径的商誉总额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800 ÷ 80%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1,000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③ 少数股东应分摊的商誉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1,000 － 800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④ 调整后含商誉的资产组账面价值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4,000 + 1,000（含少数股东商誉）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5,000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⑤ 可收回金额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题目给定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4,500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⑥ 减值损失（整体口径）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5,000 － 4,500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⑦ 归属于母公司的商誉减值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500 × 80%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400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⑧ 商誉减值后账面价值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800 － 400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400</a:t>
                      </a:r>
                    </a:p>
                  </a:txBody>
                  <a:tcPr marL="64008" marR="45720" marT="22860" marB="22860" anchor="ctr">
                    <a:solidFill>
                      <a:srgbClr val="FD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" y="516636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B02A2A"/>
                </a:solidFill>
                <a:latin typeface="Microsoft YaHei"/>
              </a:rPr>
              <a:t>借：资产减值损失　400 万元　　贷：商誉减值准备　400 万元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36B"/>
                </a:solidFill>
                <a:latin typeface="Microsoft YaHei"/>
              </a:rPr>
              <a:t>要点：资产组的可收回金额对应“整个资产组”，而账面价值只确认了部分商誉，因此必须先调整口径，再按持股比例确认母公司的商誉减值。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08 计算实训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五个例题的知识映射与自查清单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188720"/>
          <a:ext cx="1078992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例题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考查知识点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关键陷阱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例题一 单项资产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可收回金额孰高、减值后折旧重算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误用孰低；忘记重算折旧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例题二 资产组分摊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分摊顺序、下限约束、二次分摊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越界判断标准；二次分摊基数（只含未越界资产）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例题三 总部资产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两条处理路径、最小资产组组合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路径二须先测资产组、避免重复确认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例题四 商誉两步法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先资产组、后商誉；准则间分工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存货按 CAS 1 处理；顺序颠倒导致商誉被过度冲减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例题五 部分商誉法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少数股东商誉的调整、按比例确认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</a:rPr>
                        <a:t>忘记加回少数股东商誉；调整口径与确认比例混淆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4663440"/>
            <a:ext cx="10789920" cy="9144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4663440"/>
            <a:ext cx="50292" cy="9144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782312"/>
            <a:ext cx="10405872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自查清单：① 有没有判断适用准则？② 可收回金额有没有取孰高？③ 资产组划分是否一致？④ 分摊有没有检查下限？⑤ 商誉是先算还是后算？⑥ 后续折旧有没有重算？⑦ 能不能转回判断对了吗？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742432"/>
            <a:ext cx="10789920" cy="594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742432"/>
            <a:ext cx="50292" cy="59436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861304"/>
            <a:ext cx="10405872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02A43"/>
                </a:solidFill>
                <a:latin typeface="Microsoft YaHei"/>
              </a:rPr>
              <a:t>课后作业：完成配套《计算例题详解》中的 6 道进阶题，并就一家上市公司的商誉减值披露撰写 1,500 字案例分析。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课程总结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全讲知识回顾：一句话主线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170432"/>
            <a:ext cx="10789920" cy="8229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170432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判断适用准则 → 识别减值迹象 → 计算可收回金额（孰高）→ 分层测试 → 确认分摊 → 判断转回 → 重算折旧 → 充分披露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148840"/>
          <a:ext cx="10789919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4286"/>
                <a:gridCol w="4855464"/>
                <a:gridCol w="4100169"/>
              </a:tblGrid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最核心的一句话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对应的“必考”知识点</a:t>
                      </a:r>
                    </a:p>
                  </a:txBody>
                  <a:tcPr marL="64008" marR="45720" marT="22860" marB="22860" anchor="ctr">
                    <a:solidFill>
                      <a:srgbClr val="1B5E8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准则定位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减值不是 CAS 8 的专属，先判断资产类别归哪条准则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适用范围；存货与金融资产的例外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迹象与测试时点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一般资产有迹象才测，商誉与寿命不确定无形资产每年必测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七类迹象；三类强制年度测试资产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可收回金额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孰高，不是孰低；一项超账面即不计提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公允价值的三个层次；处置费用的增量口径；税前折现率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资产组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最小、独立、前后一致；分摊有下限，越界须二次分摊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四步分摊法；二次分摊的基数与顺序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总部资产与商誉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总部资产两条路径；商誉先测资产组再测商誉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最小资产组组合；部分商誉法；分摊单元上限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确认与转回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长期资产一经计提不得转回；存货、金融资产可转回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各类资产转回规则对照；减值后重算折旧</a:t>
                      </a:r>
                    </a:p>
                  </a:txBody>
                  <a:tcPr marL="64008" marR="45720" marT="22860" marB="22860" anchor="ctr">
                    <a:solidFill>
                      <a:srgbClr val="F4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准则比较与实证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CAS 8 禁转回 vs IAS 36 允许转回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02A43"/>
                          </a:solidFill>
                          <a:latin typeface="Microsoft YaHei"/>
                        </a:rPr>
                        <a:t>差异表；盈余管理的识别思路</a:t>
                      </a:r>
                    </a:p>
                  </a:txBody>
                  <a:tcPr marL="64008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68580" cy="5669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502A"/>
                </a:solidFill>
                <a:latin typeface="Microsoft YaHei"/>
              </a:rPr>
              <a:t>课程总结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Microsoft YaHei"/>
              </a:rPr>
              <a:t>延伸阅读与思考题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4AE"/>
                </a:solidFill>
                <a:latin typeface="Microsoft YaHei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4A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70432"/>
            <a:ext cx="5349240" cy="457200"/>
          </a:xfrm>
          <a:prstGeom prst="rect">
            <a:avLst/>
          </a:prstGeom>
          <a:solidFill>
            <a:srgbClr val="1B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推荐阅读方向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准则文本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CAS 8《资产减值》全文及《企业会计准则讲解》相关章节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IAS 36 Impairment of Assets（含 Basis for Conclusions）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学术文献主题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商誉减值与盈余管理（big bath、income smoothing）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准则变更的经济后果研究（CAS 8 禁止转回的效应）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减值信息的价值相关性与信息含量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商誉减值与债务契约、高管薪酬的关系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5E8C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实务资料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上市公司年报附注中的商誉减值测试披露</a:t>
            </a:r>
          </a:p>
          <a:p>
            <a:pPr algn="l" marL="27432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B5E8C"/>
                </a:solidFill>
                <a:latin typeface="Microsoft YaHei"/>
              </a:rPr>
              <a:t>•  </a:t>
            </a:r>
            <a:r>
              <a:rPr sz="1200" b="0" i="0">
                <a:solidFill>
                  <a:srgbClr val="5A636B"/>
                </a:solidFill>
                <a:latin typeface="Microsoft YaHei"/>
              </a:rPr>
              <a:t>审计报告中的关键审计事项段落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170432"/>
            <a:ext cx="5349240" cy="45720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170432"/>
            <a:ext cx="5020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</a:rPr>
              <a:t>思考题（面向研究设计）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627632"/>
            <a:ext cx="5349240" cy="46451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773936"/>
            <a:ext cx="494690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① 如果把 CAS 8 改为允许转回，你认为管理层的减值计提行为会如何变化？请设计一个可检验的实证方案。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② “可收回金额取孰高”在多大程度上削弱了减值确认的及时性？能否用数据刻画其门槛效应？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③ 资产组划分的裁量空间如何度量？能否构造一个可操作的代理变量？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④ 商誉减值与后续业绩反转之间是否存在系统性关系？如何排除“减值本身导致业绩下降”的反向因果？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502A"/>
                </a:solidFill>
                <a:latin typeface="Microsoft YaHei"/>
              </a:rPr>
              <a:t>■  </a:t>
            </a:r>
            <a:r>
              <a:rPr sz="1350" b="1" i="0">
                <a:solidFill>
                  <a:srgbClr val="102A43"/>
                </a:solidFill>
                <a:latin typeface="Microsoft YaHei"/>
              </a:rPr>
              <a:t>⑤ 从准则制定角度，你认为“禁止长期资产减值转回”是有效率的安排吗？请给出支持与反对各三条理由。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Microsoft YaHei"/>
              </a:rPr>
              <a:t>谢谢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FA8BE"/>
                </a:solidFill>
                <a:latin typeface="Microsoft YaHei"/>
              </a:rPr>
              <a:t>资产减值 · CAS 8（附 IAS 36 对照）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20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CCE"/>
                </a:solidFill>
                <a:latin typeface="Microsoft YaHei"/>
              </a:rPr>
              <a:t>配套材料：计算例题详解（含答案解析）· 复习提纲与思维导图 · 随堂小测题库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